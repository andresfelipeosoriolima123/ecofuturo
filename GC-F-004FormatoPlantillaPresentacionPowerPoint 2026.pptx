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Work Sans"/>
      <p:regular r:id="rId21"/>
      <p:bold r:id="rId22"/>
      <p:italic r:id="rId23"/>
      <p:boldItalic r:id="rId24"/>
    </p:embeddedFont>
    <p:embeddedFont>
      <p:font typeface="Work Sans SemiBol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48ZCWonD6GILDOzVipZRRCsGP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  <p:guide pos="438"/>
        <p:guide pos="2387" orient="horz"/>
        <p:guide pos="28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WorkSans-bold.fntdata"/><Relationship Id="rId21" Type="http://schemas.openxmlformats.org/officeDocument/2006/relationships/font" Target="fonts/WorkSans-regular.fntdata"/><Relationship Id="rId24" Type="http://schemas.openxmlformats.org/officeDocument/2006/relationships/font" Target="fonts/WorkSans-boldItalic.fntdata"/><Relationship Id="rId23" Type="http://schemas.openxmlformats.org/officeDocument/2006/relationships/font" Target="fonts/WorkSa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WorkSansSemiBold-bold.fntdata"/><Relationship Id="rId25" Type="http://schemas.openxmlformats.org/officeDocument/2006/relationships/font" Target="fonts/WorkSansSemiBold-regular.fntdata"/><Relationship Id="rId28" Type="http://schemas.openxmlformats.org/officeDocument/2006/relationships/font" Target="fonts/WorkSansSemiBold-boldItalic.fntdata"/><Relationship Id="rId27" Type="http://schemas.openxmlformats.org/officeDocument/2006/relationships/font" Target="fonts/WorkSans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8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1.png"/><Relationship Id="rId7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19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11" Type="http://schemas.openxmlformats.org/officeDocument/2006/relationships/image" Target="../media/image22.png"/><Relationship Id="rId10" Type="http://schemas.openxmlformats.org/officeDocument/2006/relationships/image" Target="../media/image28.png"/><Relationship Id="rId12" Type="http://schemas.openxmlformats.org/officeDocument/2006/relationships/image" Target="../media/image27.png"/><Relationship Id="rId9" Type="http://schemas.openxmlformats.org/officeDocument/2006/relationships/image" Target="../media/image25.png"/><Relationship Id="rId5" Type="http://schemas.openxmlformats.org/officeDocument/2006/relationships/image" Target="../media/image2.jpg"/><Relationship Id="rId6" Type="http://schemas.openxmlformats.org/officeDocument/2006/relationships/image" Target="../media/image21.png"/><Relationship Id="rId7" Type="http://schemas.openxmlformats.org/officeDocument/2006/relationships/image" Target="../media/image26.png"/><Relationship Id="rId8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31.png"/><Relationship Id="rId7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jpg"/><Relationship Id="rId6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/>
        </p:nvSpPr>
        <p:spPr>
          <a:xfrm>
            <a:off x="963672" y="2551837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376248" y="817708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600825" y="758175"/>
            <a:ext cx="8858100" cy="5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DE UN</a:t>
            </a:r>
            <a:r>
              <a:rPr lang="es-CO" sz="2000"/>
              <a:t> APLICATIVO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WEB EDUCATIVO PARA CONCIENTIZAR A LOS NIÑOS DE GRADO </a:t>
            </a:r>
            <a:r>
              <a:rPr lang="es-CO" sz="2000"/>
              <a:t>QUINTO Y SEXTO 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SOBRE EL CUIDADO AMBIENTAL Y EL USO RESPONSABLE EN EL ENTORNO ESCOLAR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NAVARRO DUARTE JUAN CAMILO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OSORIO LIMA ANDRÉS FELIPE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RAMÍREZ BELLO DAVID SANTIAGO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 DE DISEÑO Y METROLOGÍA (SENA)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I.E.D COLEGIO TÉCNICO PALERMO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TÉCNICO EN </a:t>
            </a:r>
            <a:r>
              <a:rPr lang="es-CO" sz="2000"/>
              <a:t>PROGRAMACIÓN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O" sz="2000"/>
              <a:t>BOGOTA</a:t>
            </a: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D.C.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1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NAVARRO DUARTE JUAN CAMILO </a:t>
            </a:r>
            <a:r>
              <a:rPr b="0" i="0" lang="es-CO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38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OSORIO LIMA ANDRÉS FELIPE 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RAMÍREZ BELLO DAVID SANTIAGO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00"/>
              <a:buFont typeface="Arial"/>
              <a:buNone/>
            </a:pPr>
            <a:br>
              <a:rPr b="0" i="0" lang="es-CO" sz="38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8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I3AgYDASIAAhEBAxEB/8QAGwABAAIDAQEAAAAAAAAAAAAAAAMEAgUGAQn/xAA5EAEAAQMBBgMHAwMDBAMAAAAAAgEDBBIFERMiM3IhMTIGFCNCUVJxQWFiNIGCJGOxQ0SRslOiwf/EABoBAQACAwEAAAAAAAAAAAAAAAADBAIFBgH/xAAoEQEAAgIBBAICAgIDAAAAAAAAAgMBEjIEERMiBTEhIzNCFFI0Q0T/2gAMAwEAAhEDEQA/APqmDwHoAAAAAAAAAAADCWiHm9rWtaeKPJ6UvwjlnQOPZ++DPVrj4Ktq3DhUluY49/RYlOfyIoW/7sdl8VoZGv0RJ5FdWiENSXaDzZY3UN1ENu/xKb2PvHjyQlJjtA2WRXhkRub6Ur5MYZdJ+mMv/D3ywe7LQq3cmsZUhGFZsreRrlp01pue7QebLAq0y98px0S5CGXrp6JUl9rzywe7YWd2+nibt3krWcji6oaKw3PZ5HNohDW92j22ebLIgtX+LHexrkb5ckdX4NoGyYhPUjpdhO3xP0YwvW+FxPRBjuzS1nDVor5vVb3n59H+aWd/TbrM2gw2SMt9FeeXoprrblp/CXVTTvZRnGf0zSIpSpCO+T29dpat6qqmRdrK3XlYzt0YTnovitK9wrcXkcnmjCcNNZMtoGy0AkZgAAAAAAAAAAAAAAAAAAAK16VIXIR/jL/mghlc07TpH/YrX/7DNBmbGefOMv2Ye+3v4/8AlFKnNX9k2PjQva9dGk3unPRFCc5so584+uC3ZvQvR5PJrMi1wrkoU/KbAn8VNT1M99Js4TnvpJdvXoWYa5qk8+dfQ9zp75aEOPZpdlpLrpznpAnOW+kEsM6ceotWb0L0d8FDLs8KXw2eHPRcKbZwt0mQnOEtJpcnJnalohQxsyV2WidNzDOt80Zosemm7EndOF2hvLdayr8rdY0j5VeY+RK5OsJUQZ09VzcYc9Nz8nmn5dHu/wC3smycmdqWiBYzJXLmhDl1pW9uZYUOeTHzT82hvLdskOT0JpaIpx1wlbbCXBYV7OPSdvdxJ6Ul63CFmUIJLNvRb0F6Gu3oRaejDX1Y49Pgx/CPFpvnd700IaIxgi4M4znOE/Wf6Gry11brzFr8OtGdm1wtWqvNNhC1XVLTd5WGYShqxY4/nc/LPB6VDEhu1flLj2uDDTQqjxyQiwlPn0Riita/eJ6/JLWzKl3XGXhX9C3ZnCcpznq3/o9zCc5iOx1rv5e2evc/skt2aQuzn95CzSN2dz6soxljU1YWv6ibPi65ShCH+RCzuuTua/WUszjKWifLN7nZmhx/Vd+5nh1+HSjK1Z4WrXPfrqx4V6NZaJ8qOMJw1YM56ODLhof+x/snhZ0WtDyFn4Gi4zzGc2bGdf8AT/4o5f0sWfBvadGqOlnOxrt6GOk5sWOR/TJbPTi8vQ129DKEdMNKWEO0nv8AZDmfIxy+mmvWqXoadSGdi7KO6c2EoSzsxmxv0ufD0fVlK1OVY81OVJeta48nqj5HBlKcJzn6WOIGixTyegt4SgAAAAAAAAAAAAAAAAAAPK+QNPfuadqzj/tU/wCRhWvE21fj9tqn/Inx9NZOfskl6pLWzfm/KrL1SWsD52g6f+VPTzQ5vWr+HuD1qvM3rVe4PWP/AEvf+15nQ+IxxpaLmpcyrXFhv3czXeh7dDx27vLfSfdtblmF310YQxrMJa4xVcbJ0ck1+tN/jRep0v8AdZhmM0Gf096jDkkv5cd9qrXKfV+lvdXu5pcnnuGPP4kUU56iE9Ktv77o9/dJd6klnB9ElL1zbDDh8JZ6f3t7pKea2xl5MkOT0ptlP6W1S7lzl02O/J9e+THF3cSLY0hTco1Qnd77K8PdVx8nVyTXd9K03qUMGcJ6+IubqUisU7/3Sw27ezxDPGtzk8uZdIUR+/8A+2Tuq/sbwWoQjGO6FCctENTCzdjdiiy71IclGc5whDc29e6vxr12Xw5rtnXS1z+pQszt2pa1ymRDh69Kt08u/vOSKqaOeXKM9GhahXlaqc913WuY+RC7TRR7TdvP3IT7rop+9w16NKxr8N61GcZ/SXd6zUqZsdW6tFmnNShG2E+JGe6QU/e4a9GlPqjGmp7GcZmzPx+hvr9FKedH5I63sc6tfXHci/yIPPLFd8Km7w3UYUlSUNdEV7JhZlo0JJTjDG2UixSn1N1FSeZCEfNJbu8W3SX1Y4thNjsm1fsUrWqvczIW+XfTVVF79/AlbCDHyxXxDZvW7tORMzSADMAAAAAAAAAAAAAAAAHlfJ68r5GDLn7M9e1sun0pSgj2bc4m0ci5T5tf/uLWc9ml27rk/VJnauztehhP1SS4+PC7q10cvDfM/RchzRXJa5a1jBhStddUvuNn9FiEKRhoX6ennCe80sKvfvJ6rZONr5oGRkytS00gWcviy0aU05wn6TZynCfooehdw7vyIsu1pkixupBrofouQw9Jtncjqhuamvk28vJqr0aRuSWeu+mfUfTGENcicNEkmP4ziZEefepaem6t/RHTybTHjotRo11v1RbSPkudDFZ6f6SMJwhOOhmNkstTOzOzJLZy5w5Li5uhOP3ILuJCfpUfDKHvSreKUOCW3ft3PGFXt6WiEp1aylzg3Wwv/wBPOv7MqrfJCTOM91TGhxL3P+i1kWoTtyp+yvg9RbvdOTGqH6WNXBUwpfE3LOTCE7cqVVMTrrmR06/gp/hKuCjhwrO7ztloho0aVDD67YMukh6MqeLWXupNfswhGHhFQyepNsbfoiw6aHvNhTzUMiOi/vXL0t2PKX8VbOjzQmXp/wCjixh6Tm94bK+jl1tlCdODr/jvVdFPdf7PYT/039nlX6XkPRhjc99cybcrlqsYV81XBhzSmt3rtLUNdUlMf1e6Sriix8bhQ50ObCGopevZFPhosmzO165+tHOcNPSLCfD0XcPpK20OosYXRV8/qs7v+O8n/EY2LSdNU1vRC1b3Q8mGP0I1ozvV3W5JYRhCrZnCGkFCzDi3d01vItQlblTTv8FSzC5OXJVYuY9+XzqtP5hxYw4MMGfNobFQxsWULuvWvV8KLfTQnCPuzp4vQFlKAAAAAAAAAAAAAAAAxp5VRZUtNi5X6QS08qqe1Z6MC7o+x7D7R2cMtHsP+ovdv/6Mdh9a52UFmf20VOfTDaT9UlrBr6v3LmDqlv1pcezSzTxk0dNMoW7txCE91h6DZLKjnWayhrgqW58OWuDa+EoIJ4ludORQ6np5znvBWnV/eCjevTvJsCzrnr+xNDBhT1y1LMIUhTlY09NLfeZCqW+83td1aNXl9STbbqK17E4s9epP1FWbIdos7Yb47KuJHVMy46ZrdrG4VddZPL2PS7WNdXkg/wAafh0YeH0UsanPFtKU3Uogs4nClr1LNd27xTdNTmuHuzqhpjs83bqI8mOq3KiZ5VPLG+OyZqseei7rmvyv2Yx1ykgnhUn6KvPcp/eqQzbV6Yirw3grT57rYVh8PSxs40LXl6lmnhTczpp05s4Qa3GnourF+7CNuXg8u4lJS1wqwphyl6p1YwhbCGjD3h6McG38TWtZHjak9tWYWIaIPbkdcNKWFOlWiSENI9lDC6zZV80FrH4VdepPQ6eE4Q9yqGkezVX+tNfsyjOG5HexIXZa6SrEx8bgy4mtFVCcLWMIShJ7n9Hepa/kbO5DiQ0K8MKkPmq86imc5+hbDuzrbpwdNPtUKz3cja7vNVrgfzOopnPgWw78WeHD4TDOpXRDetQhSMdDG9a4sNFU06v1aM9PTRXwZw0MM+cJ6bbL3GdP+ozliQ0+KHW2dWmqHtPXQwelRXz+qvWbVLMNCPIx+NXfq3M5UznVoznD0e4fRh+Et6OqO55ahS1CMKfok86JoQ9NEjVY8+HfXLl+EbUp/sxu4lJ11wqw9yn/APJVWhC2n0whhicDEvTuynr9K+gt2YWo6YJ1mqMoR7TTRAEzIAAAAAAAAAAAAAAB5UGEWv27PRs662FPJp/aa5oxrdv75s6fzNW6yelMstfsPrXOygbD61zsoLU/tpKeGHWAKTpAAAAAAAAAAAAAAAAAAAAAAAAAAAAAAAAAAAAAAAAAAAAAAAAAAAAAAAAAAAAGP6NB7TXN87Vj99bf13b/AAct7QT/ANfLsTUR7za/5KelDzYfWudlA2H1rnZQTz5NVTww6wBSdKAAAAAAAAAAAAAAAAAAAAAAAAAAAAAAAAAAAAAAAAAAAAAAAAAAAAAAAAAAAAwr5OO2nLi5t+n0k7CnpcRkz42Rdn981jpvtp/leMV/YfWudlA2H1rnZQSz5ZU6uGHWAKTpAAAAAAAAAAAAAAAAAAAAAAAAAAAAAAAAAAAAAAAAAAAAAAAAAAAAAAAAAAAAFXL5cS72TcW6zbU6Wtn3f500uTXOmx6tD8rP3jBsth9a52UDYfWudlB7PllDVww6wBSdIAAAAAAAAAAAAAAAAAAAAAAAAAAAAAAAAAAAAAAAAAAAAAAAAAAAAAAAAAAPKvQGh9pp/Bs2Pvm59uvaKWq/at/ZHe0q/Twcx8lLfqGy2H1rnZQNh9a52UGM+WWdPDDrAFJ0gAAAAAAAAAAAAAAAAAAAAAAAAAAAAAAAAAAAAAAAAAAAAAAAAAAAAAAAAAADytfCoOQ2xe17Ru7uxRZ3p8a7Of3sGyhwcfdPec5tlsPrXOygbD61zsoIp/a3Tww6wBSdKAAAAAAAAAAAAAAAAAAAAAAAAAAAAAAAAAAAAAAAAAAAAAAAAAAAAAAAAAAj+ivmTpZxbs/4rNWr2/d4eB3y3M4fmaC6fjqlJzADYORbLYfWudlA2H1rnZQQz5ZbCnhh1gCk6UAAAAAAAAAAAAAAAAAAAAAAAAAAAAAAAAAAAAAAAAAAAAAAAAAAAAAAAAAAc77S3ua1Y/zdB+rk9tXOJtC5X7KaEtEe82v+RnpS14C85psth9a52UDYfWudlBDPllsKeGHWAKTpQAAAAAAAAAAAAAAAAAAAAAAAAAAAAAAAAAAAAAAAAAAAAAAAAAAAAAAAAAEfph+HF5N7jX53/vm6na96mNgXJ/rLlcgs9NFpPlZ8YAC00rZbD61zsoGw+tc7KCGfLLYU8MOsAUnSgAAAAAAAAAAAAAAAAAAAAAAAAAAAAAAAAAAAAAAAAAAAAAAAAAAAAAAADyr0BoPaW5uhas/5NA2W37/EzZR+ymhrV6vHaDlevnvdIASqeGy2H1rnZQNh9a52UEM+WWxp4YdYApOlAAAAAAAAAAAAAAAAAAAAAAAAAAAAAAAAAAAAAAAAAAAAAAAAAAAAAAAAeb6MLkqRjrN/go7avUtYNzm3a6aSGEdk9IbOZyb3Gvzv/fNCDZYchZPeYA9YtlsPrXOygbD61zsoIZ8sthTww6wBSdKAAAAAAAAAAAAAAAAAAAAAAAAAAAAAAAAAAAAAAAAAAAAAAAAAAAAAAAAxp5Vq5/2iyK6rVmHe37kdr3eLnXaf4JqY95tb8lZpSpALrmwAetlsPrXOygbD61zsoIZ8sthTww6wBSdKAAAAAAAAAAAAAAAAAAAAAAAAAAAAAAAAAAAAAAAAAAAAAAAAAAAAAAAAq5173bFu3q/LGtXFuh9osmkLUbNPn5nPLlMPVz3yl289ABO1QAPWy2H1rnZQNh9a52UEM+WWwp4YdYApOlAAAAAAAAAAAAAAAAAAAAAAAAAAAAAAAAAAAAAAAAAAAAAAAAAAAAAAGD2lfCqpnZMcTGner5QoYYTnpju5vbV7jZ0v4cikznPXPiMGxhwclfPyT3AGSIABsth9a52UDYfWudlBDPllsKeGHWAKTpQAAAAAAAAAAAAAAAAAAAAAAAAAAAAAAAAAAAAAAAAAAAAAAAAAAAAAGNfPwaL2jyKcOONTznzN44/aWT7zmSufJ8iamHeTX/I3eOpUAXXNAAAANlsPrXOygbD61zsoIZ8sthTww6wBSdKAAAAAAAAAAAAAAAAAAAAAAAAAAAAAAAAAAAAAAAAAAAAAAAAAAAAAA1u18n3bCnKnqlyRcm3HtHk678LEPkadcph6Ob+Su3t0AE7XAAAANlsPrXOygbD61zsoIZ8sthTww6wBSdKAAAAAAAAAAAAAAAAAAAAAAAAAAAAAAAAAAAAAAAAAAAAAAAAAAAA8j5IMm/DGszvT+SKb9Gi9o8msIxxofP6vwyrhtPsrdTd4KszaO9eneuzvz9U2ANg5Wc++e4A9YgAAANlsPrXOygbD61zsoIZ8sthTww6mE9cNbMFJ0oAAAAAAAAAAAAAAAAAAAAAAAAAAAAAAAAAAAAAAAAAAAAAAAAAADwEM5whDXP0wchn5PveVO83ftDmcKx7tD1zc4t0w7e7Q/KdT7+EAWGoAAAAAAbLYfWudlA2H1rnZQQz5ZbCnhh1gCk6UAAAAAAAAAAAAAAAAAAAAAAAAAAAAAAAAAAAAAAAAAAAAAAAAAARXJwjHXOvgz8dzS+0GXwbMcaHrn4MoR3z2Q33eCG7S5+T73lTvK4L/APG5KyfknuAMmIAAAAADZbD61zsoGw+tc7KCGfLLYU8MOsAUnSgAAAAAAAAAAAAAAAAAAAAAAAAAAAAAAAAAAAAAAAAAAAAAAAAAK967CzalOflFyOXkTy78r0/Kjae0WX4xw4T/AJz/AA0a5TDtjZz3yXU7y0AE7VgAAAAAAANlsPrXOygbD61zsoIZ8sthTww6wBSdKAAAAAAAAAAAAAAAAAAAAAAAAAAAAAAAAAAAAAAAAAAAAAAAA8rTfRUzcy3iY8r30WKz8HK7Xzve7/DhX4UGdMN1PrOo8EFK9eneuznOnPNgC+5Wc++QB6AA9AAAAAAbLYfWudlA2H1rnZQQz5ZbCnhh1gCk6UAAAAAAAAAAAAAAAAAAAAAAAAAAAAAAAAAAAAAAAAAAAAAAY13fUpXwqrZeTDEsyvT8KUe4x3YTnpjup7a2lTEtUtW+pPycwmyMieRdlfn6poV6uGjmOs6nzzAEioAAAAAAAAAA2Ww+tc7KBsPrXOyghnyy2FPDDrAFJ0oAAAAAAAAAAAAAAAAAAAAAAAAAAAAAAAAAAAAAAAAAAAAACOU6R8XK7X2j73f5OlD0Lu3do8vudmfj87RLdNfb3aH5Hq9/0wAFhpwAegAAAAAAAAANlsPrXOygbD61zsoIZ8sthTww6wBSdKAAAAAAAAAAAAAAAAAAAAAAAAAAAAAAAAAAAAAAAAAAAAwrLw31azbG0vdLWixu4s0+0c+3gWOJLdqr6IuWvXp5N2d+c+eaaqvu1vX9Z4IaQ5IfWAuuc+/yAAAAAAAAAAAAAA2Ww+tc7KBsPrXOyghnyy2FPDDrAFJ0oAAAAAAAAAAAAAAAAAAAAAAAAAAAAAAAAAAAAAAAA8qHmDHfTd4KubnWcK1ruf4xZ5GRbw7XFu+Tk87MnnX+NP8AT5E1UPJlr+s6vFEO2OTDLy72Xc419EC527OcnPNmd5gD1iAAAAAAAAAAAAAA2Ww+tc7KBsPrXOyghnyy2FPDDrAFJ0oAAAAAAAAAAAAAAAAAAAAAAAAAAAAAAAAAAAAAAACOtKbt1UORl2cK3rvT3UYZ+dZwLWu54/bFy2Xl3s67rveSaurM1Dq+shRj8cmWdnXs65rn6PkgqguYx2/GHNzszZneYA9YgAAAAAAAAAAAAAAANlsPrXOygbD61zsoIZ8sthTww6wBSdKAAAAAAAAAAAAAAAAAAAAAAAAAAAAAAAAAAAAA8rWlAY1/dQ2ltSzhQ3eq58kfqr7Q2zYsardmuu79HPTncvS4lznmmrq/3arrOv8AH6QZ5OTPJu8S/Pn/APRCC40M5zs+wB6xAAAAAAAAAAAAAAAAAAbLYfWudlA2H1rnZQQz5ZbCnhh1gCk6UAAAAAAAAAAAAAAAAAAAAAAAAAAAAAAAAABHu8Nx4UZ/p4tdn7Vs4NN3rufbQxjf8I7Jwr9pLd69bs29dyemNHO7R21PJrwLHJFSzNo5WZLnnyfYrrkKdObRdT8lv6QAE7VgAAAAAAAAAAAAAAAAAAAAANlsPrXOygbD61zsoIZ8sthTww6wBSdKAAAAAAAAAAAAAAAAAAAAAAAAAAAAAAAjnchCOuc9MQ79mVJIb+VZsR13p0jRq8z2gs2uTGjrm0d7Jv5Mtd+aaFPdrOo+RhXwbTP2/OfJi8sfvaWc9QLkIYraO7qZ38wB6gAB6AAAAAAAAAAAAAAAAAAAAAA2Ww+tc7KBsPrXOyghnyy2FPDDrAFJ0oAAAAAAAAAAAAAAAAAAAAAAAAAAx8N+94r38uzj033r0If3e4x3YTniH2s03V/RhO5CEeaulpcn2ihGm6zZ19zUZGdlZkt169u/glhTKahb8jVXxb7M25jWPh2fiSr9PS0OXnZWXLdenu/grizCmEGn6nrbrvoASKgAAAAAAAAAAAAAAAAAAAAAAAAAAADZbD61zsoGw+tc7KCGfLLYU8MOsAUnSgAAAAAAAAAAAAAAAAAAAMd1XjLVRDdybNnqXIQ7pDzbGE1K7/0Y6/2au97QYVrktzld7PFrcj2gypy+BojH92cKZ5U7euprdJO7CPqUMjbWLZ9FOLL6Qc3eyL96W6/fnNCmh0zXXfKy/o2uT7QZV7ks2+DFrZzuTlxJ3NbAWYQxW1t3U3X8wB6hAAAAAAAAAAAAAAAAAAAAAAAAAAAAAAAAbLYfWudlA2H1rnZQQz5ZbGnhh1gCk6UAAAAAAAAAAAAAAABjHw3obuTaseutafigPY4xmf5eTz2UL+37Fj02pyVLntBkz6OPGndUF3FUWnv6mzH1lTvbU2jf8J3uHH+ClpnP9QZRjjH01P8AkWWZ9smmZpmDM8ccmmZpmAeKJpmaZgHiiaZmmYB4ommZpmAeKJpmaZgHiiaZmmYB4ommZpmAeKJpmaZgHiiaZmmYB4ommZpmAeKJpmaZgHiiaZmmYB4ommZpmAeKJpmaZgHiiaZmmYB4ommZpmAeKJpmaZgHiiaZmmYB4ommZpmAeKLYbGh8a52UAQz5ZbCquOmH/9k=" id="95" name="Google Shape;95;p1"/>
          <p:cNvSpPr/>
          <p:nvPr/>
        </p:nvSpPr>
        <p:spPr>
          <a:xfrm>
            <a:off x="2239963" y="-5851525"/>
            <a:ext cx="5524500" cy="604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NAVARRO DUARTE JUAN CAMILO </a:t>
            </a:r>
            <a:r>
              <a:rPr b="0" i="0" lang="es-CO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38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OSORIO LIMA ANDRÉS FELIPE 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O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RAMÍREZ BELLO DAVID SANTIAGO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00"/>
              <a:buFont typeface="Arial"/>
              <a:buNone/>
            </a:pPr>
            <a:br>
              <a:rPr b="0" i="0" lang="es-CO" sz="38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38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ata:image/jpeg;base64,/9j/4AAQSkZJRgABAQAAAQABAAD/4gHYSUNDX1BST0ZJTEUAAQEAAAHIAAAAAAQwAABtbnRyUkdCIFhZWiAH4AABAAEAAAAAAABhY3NwAAAAAAAAAAAAAAAAAAAAAAAAAAAAAAAAAAAAAQAA9tYAAQAAAADTLQAAAAAAAAAAAAAAAAAAAAAAAAAAAAAAAAAAAAAAAAAAAAAAAAAAAAAAAAAAAAAAAAAAAAlkZXNjAAAA8AAAACRyWFlaAAABFAAAABRnWFlaAAABKAAAABRiWFlaAAABPAAAABR3dHB0AAABUAAAABRyVFJDAAABZAAAAChnVFJDAAABZAAAAChiVFJDAAABZAAAAChjcHJ0AAABjAAAADxtbHVjAAAAAAAAAAEAAAAMZW5VUwAAAAgAAAAcAHMAUgBHAEJYWVogAAAAAAAAb6IAADj1AAADkFhZWiAAAAAAAABimQAAt4UAABjaWFlaIAAAAAAAACSgAAAPhAAAts9YWVogAAAAAAAA9tYAAQAAAADTLXBhcmEAAAAAAAQAAAACZmYAAPKnAAANWQAAE9AAAApbAAAAAAAAAABtbHVjAAAAAAAAAAEAAAAMZW5VUwAAACAAAAAcAEcAbwBvAGcAbABlACAASQBuAGMALgAgADIAMAAxADb/2wBDAAMCAgICAgMCAgIDAwMDBAYEBAQEBAgGBgUGCQgKCgkICQkKDA8MCgsOCwkJDRENDg8QEBEQCgwSExIQEw8QEBD/2wBDAQMDAwQDBAgEBAgQCwkLEBAQEBAQEBAQEBAQEBAQEBAQEBAQEBAQEBAQEBAQEBAQEBAQEBAQEBAQEBAQEBAQEBD/wAARCAI3AgYDASIAAhEBAxEB/8QAGwABAAIDAQEAAAAAAAAAAAAAAAMEAgUGAQn/xAA5EAEAAQMBBgMHAwMDBAMAAAAAAgEDBBIFERMiM3IhMTIGFCNCUVJxQWFiNIGCJGOxQ0SRslOiwf/EABoBAQACAwEAAAAAAAAAAAAAAAADBAIFBgH/xAAoEQEAAgIBBAICAgIDAAAAAAAAAgMBEjIEERMiBTEhIzNCFFI0Q0T/2gAMAwEAAhEDEQA/APqmDwHoAAAAAAAAAAADCWiHm9rWtaeKPJ6UvwjlnQOPZ++DPVrj4Ktq3DhUluY49/RYlOfyIoW/7sdl8VoZGv0RJ5FdWiENSXaDzZY3UN1ENu/xKb2PvHjyQlJjtA2WRXhkRub6Ur5MYZdJ+mMv/D3ywe7LQq3cmsZUhGFZsreRrlp01pue7QebLAq0y98px0S5CGXrp6JUl9rzywe7YWd2+nibt3krWcji6oaKw3PZ5HNohDW92j22ebLIgtX+LHexrkb5ckdX4NoGyYhPUjpdhO3xP0YwvW+FxPRBjuzS1nDVor5vVb3n59H+aWd/TbrM2gw2SMt9FeeXoprrblp/CXVTTvZRnGf0zSIpSpCO+T29dpat6qqmRdrK3XlYzt0YTnovitK9wrcXkcnmjCcNNZMtoGy0AkZgAAAAAAAAAAAAAAAAAAAK16VIXIR/jL/mghlc07TpH/YrX/7DNBmbGefOMv2Ye+3v4/8AlFKnNX9k2PjQva9dGk3unPRFCc5so584+uC3ZvQvR5PJrMi1wrkoU/KbAn8VNT1M99Js4TnvpJdvXoWYa5qk8+dfQ9zp75aEOPZpdlpLrpznpAnOW+kEsM6ceotWb0L0d8FDLs8KXw2eHPRcKbZwt0mQnOEtJpcnJnalohQxsyV2WidNzDOt80Zosemm7EndOF2hvLdayr8rdY0j5VeY+RK5OsJUQZ09VzcYc9Nz8nmn5dHu/wC3smycmdqWiBYzJXLmhDl1pW9uZYUOeTHzT82hvLdskOT0JpaIpx1wlbbCXBYV7OPSdvdxJ6Ul63CFmUIJLNvRb0F6Gu3oRaejDX1Y49Pgx/CPFpvnd700IaIxgi4M4znOE/Wf6Gry11brzFr8OtGdm1wtWqvNNhC1XVLTd5WGYShqxY4/nc/LPB6VDEhu1flLj2uDDTQqjxyQiwlPn0Riita/eJ6/JLWzKl3XGXhX9C3ZnCcpznq3/o9zCc5iOx1rv5e2evc/skt2aQuzn95CzSN2dz6soxljU1YWv6ibPi65ShCH+RCzuuTua/WUszjKWifLN7nZmhx/Vd+5nh1+HSjK1Z4WrXPfrqx4V6NZaJ8qOMJw1YM56ODLhof+x/snhZ0WtDyFn4Gi4zzGc2bGdf8AT/4o5f0sWfBvadGqOlnOxrt6GOk5sWOR/TJbPTi8vQ129DKEdMNKWEO0nv8AZDmfIxy+mmvWqXoadSGdi7KO6c2EoSzsxmxv0ufD0fVlK1OVY81OVJeta48nqj5HBlKcJzn6WOIGixTyegt4SgAAAAAAAAAAAAAAAAAAPK+QNPfuadqzj/tU/wCRhWvE21fj9tqn/Inx9NZOfskl6pLWzfm/KrL1SWsD52g6f+VPTzQ5vWr+HuD1qvM3rVe4PWP/AEvf+15nQ+IxxpaLmpcyrXFhv3czXeh7dDx27vLfSfdtblmF310YQxrMJa4xVcbJ0ck1+tN/jRep0v8AdZhmM0Gf096jDkkv5cd9qrXKfV+lvdXu5pcnnuGPP4kUU56iE9Ktv77o9/dJd6klnB9ElL1zbDDh8JZ6f3t7pKea2xl5MkOT0ptlP6W1S7lzl02O/J9e+THF3cSLY0hTco1Qnd77K8PdVx8nVyTXd9K03qUMGcJ6+IubqUisU7/3Sw27ezxDPGtzk8uZdIUR+/8A+2Tuq/sbwWoQjGO6FCctENTCzdjdiiy71IclGc5whDc29e6vxr12Xw5rtnXS1z+pQszt2pa1ymRDh69Kt08u/vOSKqaOeXKM9GhahXlaqc913WuY+RC7TRR7TdvP3IT7rop+9w16NKxr8N61GcZ/SXd6zUqZsdW6tFmnNShG2E+JGe6QU/e4a9GlPqjGmp7GcZmzPx+hvr9FKedH5I63sc6tfXHci/yIPPLFd8Km7w3UYUlSUNdEV7JhZlo0JJTjDG2UixSn1N1FSeZCEfNJbu8W3SX1Y4thNjsm1fsUrWqvczIW+XfTVVF79/AlbCDHyxXxDZvW7tORMzSADMAAAAAAAAAAAAAAAAHlfJ68r5GDLn7M9e1sun0pSgj2bc4m0ci5T5tf/uLWc9ml27rk/VJnauztehhP1SS4+PC7q10cvDfM/RchzRXJa5a1jBhStddUvuNn9FiEKRhoX6ennCe80sKvfvJ6rZONr5oGRkytS00gWcviy0aU05wn6TZynCfooehdw7vyIsu1pkixupBrofouQw9Jtncjqhuamvk28vJqr0aRuSWeu+mfUfTGENcicNEkmP4ziZEefepaem6t/RHTybTHjotRo11v1RbSPkudDFZ6f6SMJwhOOhmNkstTOzOzJLZy5w5Li5uhOP3ILuJCfpUfDKHvSreKUOCW3ft3PGFXt6WiEp1aylzg3Wwv/wBPOv7MqrfJCTOM91TGhxL3P+i1kWoTtyp+yvg9RbvdOTGqH6WNXBUwpfE3LOTCE7cqVVMTrrmR06/gp/hKuCjhwrO7ztloho0aVDD67YMukh6MqeLWXupNfswhGHhFQyepNsbfoiw6aHvNhTzUMiOi/vXL0t2PKX8VbOjzQmXp/wCjixh6Tm94bK+jl1tlCdODr/jvVdFPdf7PYT/039nlX6XkPRhjc99cybcrlqsYV81XBhzSmt3rtLUNdUlMf1e6Sriix8bhQ50ObCGopevZFPhosmzO165+tHOcNPSLCfD0XcPpK20OosYXRV8/qs7v+O8n/EY2LSdNU1vRC1b3Q8mGP0I1ozvV3W5JYRhCrZnCGkFCzDi3d01vItQlblTTv8FSzC5OXJVYuY9+XzqtP5hxYw4MMGfNobFQxsWULuvWvV8KLfTQnCPuzp4vQFlKAAAAAAAAAAAAAAAAxp5VRZUtNi5X6QS08qqe1Z6MC7o+x7D7R2cMtHsP+ovdv/6Mdh9a52UFmf20VOfTDaT9UlrBr6v3LmDqlv1pcezSzTxk0dNMoW7txCE91h6DZLKjnWayhrgqW58OWuDa+EoIJ4ludORQ6np5znvBWnV/eCjevTvJsCzrnr+xNDBhT1y1LMIUhTlY09NLfeZCqW+83td1aNXl9STbbqK17E4s9epP1FWbIdos7Yb47KuJHVMy46ZrdrG4VddZPL2PS7WNdXkg/wAafh0YeH0UsanPFtKU3Uogs4nClr1LNd27xTdNTmuHuzqhpjs83bqI8mOq3KiZ5VPLG+OyZqseei7rmvyv2Yx1ykgnhUn6KvPcp/eqQzbV6Yirw3grT57rYVh8PSxs40LXl6lmnhTczpp05s4Qa3GnourF+7CNuXg8u4lJS1wqwphyl6p1YwhbCGjD3h6McG38TWtZHjak9tWYWIaIPbkdcNKWFOlWiSENI9lDC6zZV80FrH4VdepPQ6eE4Q9yqGkezVX+tNfsyjOG5HexIXZa6SrEx8bgy4mtFVCcLWMIShJ7n9Hepa/kbO5DiQ0K8MKkPmq86imc5+hbDuzrbpwdNPtUKz3cja7vNVrgfzOopnPgWw78WeHD4TDOpXRDetQhSMdDG9a4sNFU06v1aM9PTRXwZw0MM+cJ6bbL3GdP+ozliQ0+KHW2dWmqHtPXQwelRXz+qvWbVLMNCPIx+NXfq3M5UznVoznD0e4fRh+Et6OqO55ahS1CMKfok86JoQ9NEjVY8+HfXLl+EbUp/sxu4lJ11wqw9yn/APJVWhC2n0whhicDEvTuynr9K+gt2YWo6YJ1mqMoR7TTRAEzIAAAAAAAAAAAAAAB5UGEWv27PRs662FPJp/aa5oxrdv75s6fzNW6yelMstfsPrXOygbD61zsoLU/tpKeGHWAKTpAAAAAAAAAAAAAAAAAAAAAAAAAAAAAAAAAAAAAAAAAAAAAAAAAAAAAAAAAAAAGP6NB7TXN87Vj99bf13b/AAct7QT/ANfLsTUR7za/5KelDzYfWudlA2H1rnZQTz5NVTww6wBSdKAAAAAAAAAAAAAAAAAAAAAAAAAAAAAAAAAAAAAAAAAAAAAAAAAAAAAAAAAAAAwr5OO2nLi5t+n0k7CnpcRkz42Rdn981jpvtp/leMV/YfWudlA2H1rnZQSz5ZU6uGHWAKTpAAAAAAAAAAAAAAAAAAAAAAAAAAAAAAAAAAAAAAAAAAAAAAAAAAAAAAAAAAAAFXL5cS72TcW6zbU6Wtn3f500uTXOmx6tD8rP3jBsth9a52UDYfWudlB7PllDVww6wBSdIAAAAAAAAAAAAAAAAAAAAAAAAAAAAAAAAAAAAAAAAAAAAAAAAAAAAAAAAAAPKvQGh9pp/Bs2Pvm59uvaKWq/at/ZHe0q/Twcx8lLfqGy2H1rnZQNh9a52UGM+WWdPDDrAFJ0gAAAAAAAAAAAAAAAAAAAAAAAAAAAAAAAAAAAAAAAAAAAAAAAAAAAAAAAAAADytfCoOQ2xe17Ru7uxRZ3p8a7Of3sGyhwcfdPec5tlsPrXOygbD61zsoIp/a3Tww6wBSdKAAAAAAAAAAAAAAAAAAAAAAAAAAAAAAAAAAAAAAAAAAAAAAAAAAAAAAAAAAj+ivmTpZxbs/4rNWr2/d4eB3y3M4fmaC6fjqlJzADYORbLYfWudlA2H1rnZQQz5ZbCnhh1gCk6UAAAAAAAAAAAAAAAAAAAAAAAAAAAAAAAAAAAAAAAAAAAAAAAAAAAAAAAAAAc77S3ua1Y/zdB+rk9tXOJtC5X7KaEtEe82v+RnpS14C85psth9a52UDYfWudlBDPllsKeGHWAKTpQAAAAAAAAAAAAAAAAAAAAAAAAAAAAAAAAAAAAAAAAAAAAAAAAAAAAAAAAAEfph+HF5N7jX53/vm6na96mNgXJ/rLlcgs9NFpPlZ8YAC00rZbD61zsoGw+tc7KCGfLLYU8MOsAUnSgAAAAAAAAAAAAAAAAAAAAAAAAAAAAAAAAAAAAAAAAAAAAAAAAAAAAAAADyr0BoPaW5uhas/5NA2W37/EzZR+ymhrV6vHaDlevnvdIASqeGy2H1rnZQNh9a52UEM+WWxp4YdYApOlAAAAAAAAAAAAAAAAAAAAAAAAAAAAAAAAAAAAAAAAAAAAAAAAAAAAAAAAeb6MLkqRjrN/go7avUtYNzm3a6aSGEdk9IbOZyb3Gvzv/fNCDZYchZPeYA9YtlsPrXOygbD61zsoIZ8sthTww6wBSdKAAAAAAAAAAAAAAAAAAAAAAAAAAAAAAAAAAAAAAAAAAAAAAAAAAAAAAAAxp5Vq5/2iyK6rVmHe37kdr3eLnXaf4JqY95tb8lZpSpALrmwAetlsPrXOygbD61zsoIZ8sthTww6wBSdKAAAAAAAAAAAAAAAAAAAAAAAAAAAAAAAAAAAAAAAAAAAAAAAAAAAAAAAAq5173bFu3q/LGtXFuh9osmkLUbNPn5nPLlMPVz3yl289ABO1QAPWy2H1rnZQNh9a52UEM+WWwp4YdYApOlAAAAAAAAAAAAAAAAAAAAAAAAAAAAAAAAAAAAAAAAAAAAAAAAAAAAAAGD2lfCqpnZMcTGner5QoYYTnpju5vbV7jZ0v4cikznPXPiMGxhwclfPyT3AGSIABsth9a52UDYfWudlBDPllsKeGHWAKTpQAAAAAAAAAAAAAAAAAAAAAAAAAAAAAAAAAAAAAAAAAAAAAAAAAAAAAGNfPwaL2jyKcOONTznzN44/aWT7zmSufJ8iamHeTX/I3eOpUAXXNAAAANlsPrXOygbD61zsoIZ8sthTww6wBSdKAAAAAAAAAAAAAAAAAAAAAAAAAAAAAAAAAAAAAAAAAAAAAAAAAAAAAA1u18n3bCnKnqlyRcm3HtHk678LEPkadcph6Ob+Su3t0AE7XAAAANlsPrXOygbD61zsoIZ8sthTww6wBSdKAAAAAAAAAAAAAAAAAAAAAAAAAAAAAAAAAAAAAAAAAAAAAAAAAAAA8j5IMm/DGszvT+SKb9Gi9o8msIxxofP6vwyrhtPsrdTd4KszaO9eneuzvz9U2ANg5Wc++e4A9YgAAANlsPrXOygbD61zsoIZ8sthTww6mE9cNbMFJ0oAAAAAAAAAAAAAAAAAAAAAAAAAAAAAAAAAAAAAAAAAAAAAAAAAADwEM5whDXP0wchn5PveVO83ftDmcKx7tD1zc4t0w7e7Q/KdT7+EAWGoAAAAAAbLYfWudlA2H1rnZQQz5ZbCnhh1gCk6UAAAAAAAAAAAAAAAAAAAAAAAAAAAAAAAAAAAAAAAAAAAAAAAAAARXJwjHXOvgz8dzS+0GXwbMcaHrn4MoR3z2Q33eCG7S5+T73lTvK4L/APG5KyfknuAMmIAAAAADZbD61zsoGw+tc7KCGfLLYU8MOsAUnSgAAAAAAAAAAAAAAAAAAAAAAAAAAAAAAAAAAAAAAAAAAAAAAAAAK967CzalOflFyOXkTy78r0/Kjae0WX4xw4T/AJz/AA0a5TDtjZz3yXU7y0AE7VgAAAAAAANlsPrXOygbD61zsoIZ8sthTww6wBSdKAAAAAAAAAAAAAAAAAAAAAAAAAAAAAAAAAAAAAAAAAAAAAAAA8rTfRUzcy3iY8r30WKz8HK7Xzve7/DhX4UGdMN1PrOo8EFK9eneuznOnPNgC+5Wc++QB6AA9AAAAAAbLYfWudlA2H1rnZQQz5ZbCnhh1gCk6UAAAAAAAAAAAAAAAAAAAAAAAAAAAAAAAAAAAAAAAAAAAAAAY13fUpXwqrZeTDEsyvT8KUe4x3YTnpjup7a2lTEtUtW+pPycwmyMieRdlfn6poV6uGjmOs6nzzAEioAAAAAAAAAA2Ww+tc7KBsPrXOyghnyy2FPDDrAFJ0oAAAAAAAAAAAAAAAAAAAAAAAAAAAAAAAAAAAAAAAAAAAAACOU6R8XK7X2j73f5OlD0Lu3do8vudmfj87RLdNfb3aH5Hq9/0wAFhpwAegAAAAAAAAANlsPrXOygbD61zsoIZ8sthTww6wBSdKAAAAAAAAAAAAAAAAAAAAAAAAAAAAAAAAAAAAAAAAAAAAwrLw31azbG0vdLWixu4s0+0c+3gWOJLdqr6IuWvXp5N2d+c+eaaqvu1vX9Z4IaQ5IfWAuuc+/yAAAAAAAAAAAAAA2Ww+tc7KBsPrXOyghnyy2FPDDrAFJ0oAAAAAAAAAAAAAAAAAAAAAAAAAAAAAAAAAAAAAAAA8qHmDHfTd4KubnWcK1ruf4xZ5GRbw7XFu+Tk87MnnX+NP8AT5E1UPJlr+s6vFEO2OTDLy72Xc419EC527OcnPNmd5gD1iAAAAAAAAAAAAAA2Ww+tc7KBsPrXOyghnyy2FPDDrAFJ0oAAAAAAAAAAAAAAAAAAAAAAAAAAAAAAAAAAAAAAACOtKbt1UORl2cK3rvT3UYZ+dZwLWu54/bFy2Xl3s67rveSaurM1Dq+shRj8cmWdnXs65rn6PkgqguYx2/GHNzszZneYA9YgAAAAAAAAAAAAAAANlsPrXOygbD61zsoIZ8sthTww6wBSdKAAAAAAAAAAAAAAAAAAAAAAAAAAAAAAAAAAAAA8rWlAY1/dQ2ltSzhQ3eq58kfqr7Q2zYsardmuu79HPTncvS4lznmmrq/3arrOv8AH6QZ5OTPJu8S/Pn/APRCC40M5zs+wB6xAAAAAAAAAAAAAAAAAAbLYfWudlA2H1rnZQQz5ZbCnhh1gCk6UAAAAAAAAAAAAAAAAAAAAAAAAAAAAAAAAABHu8Nx4UZ/p4tdn7Vs4NN3rufbQxjf8I7Jwr9pLd69bs29dyemNHO7R21PJrwLHJFSzNo5WZLnnyfYrrkKdObRdT8lv6QAE7VgAAAAAAAAAAAAAAAAAAAAANlsPrXOygbD61zsoIZ8sthTww6wBSdKAAAAAAAAAAAAAAAAAAAAAAAAAAAAAAAjnchCOuc9MQ79mVJIb+VZsR13p0jRq8z2gs2uTGjrm0d7Jv5Mtd+aaFPdrOo+RhXwbTP2/OfJi8sfvaWc9QLkIYraO7qZ38wB6gAB6AAAAAAAAAAAAAAAAAAAAAA2Ww+tc7KBsPrXOyghnyy2FPDDrAFJ0oAAAAAAAAAAAAAAAAAAAAAAAAAAx8N+94r38uzj033r0If3e4x3YTniH2s03V/RhO5CEeaulpcn2ihGm6zZ19zUZGdlZkt169u/glhTKahb8jVXxb7M25jWPh2fiSr9PS0OXnZWXLdenu/grizCmEGn6nrbrvoASKgAAAAAAAAAAAAAAAAAAAAAAAAAAADZbD61zsoGw+tc7KCGfLLYU8MOsAUnSgAAAAAAAAAAAAAAAAAAAMd1XjLVRDdybNnqXIQ7pDzbGE1K7/0Y6/2au97QYVrktzld7PFrcj2gypy+BojH92cKZ5U7euprdJO7CPqUMjbWLZ9FOLL6Qc3eyL96W6/fnNCmh0zXXfKy/o2uT7QZV7ks2+DFrZzuTlxJ3NbAWYQxW1t3U3X8wB6hAAAAAAAAAAAAAAAAAAAAAAAAAAAAAAAAbLYfWudlA2H1rnZQQz5ZbGnhh1gCk6UAAAAAAAAAAAAAAABjHw3obuTaseutafigPY4xmf5eTz2UL+37Fj02pyVLntBkz6OPGndUF3FUWnv6mzH1lTvbU2jf8J3uHH+ClpnP9QZRjjH01P8AkWWZ9smmZpmDM8ccmmZpmAeKJpmaZgHiiaZmmYB4ommZpmAeKJpmaZgHiiaZmmYB4ommZpmAeKJpmaZgHiiaZmmYB4ommZpmAeKJpmaZgHiiaZmmYB4ommZpmAeKJpmaZgHiiaZmmYB4ommZpmAeKJpmaZgHiiaZmmYB4ommZpmAeKLYbGh8a52UAQz5ZbCquOmH/9k=" id="97" name="Google Shape;97;p1"/>
          <p:cNvSpPr/>
          <p:nvPr/>
        </p:nvSpPr>
        <p:spPr>
          <a:xfrm>
            <a:off x="2392363" y="-5699125"/>
            <a:ext cx="5524500" cy="6048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/>
          <p:nvPr/>
        </p:nvSpPr>
        <p:spPr>
          <a:xfrm>
            <a:off x="963672" y="2551837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03" name="Google Shape;103;p27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04601" y="742449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7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sp>
        <p:nvSpPr>
          <p:cNvPr id="105" name="Google Shape;105;p27"/>
          <p:cNvSpPr/>
          <p:nvPr/>
        </p:nvSpPr>
        <p:spPr>
          <a:xfrm>
            <a:off x="1754819" y="694500"/>
            <a:ext cx="8682362" cy="179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Duración del proyecto: 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meses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O" sz="20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Ubicación del proyecto:  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Colegio Técnico Palermo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localidad 13 Teusaquillo en la ciudad de Bogotá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39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Dirección: carrera 23 # 49 -37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/>
          <p:nvPr/>
        </p:nvSpPr>
        <p:spPr>
          <a:xfrm>
            <a:off x="2087634" y="2427890"/>
            <a:ext cx="3268575" cy="2310694"/>
          </a:xfrm>
          <a:custGeom>
            <a:rect b="b" l="l" r="r" t="t"/>
            <a:pathLst>
              <a:path extrusionOk="0" h="4471356" w="5643274">
                <a:moveTo>
                  <a:pt x="0" y="0"/>
                </a:moveTo>
                <a:lnTo>
                  <a:pt x="5643274" y="0"/>
                </a:lnTo>
                <a:lnTo>
                  <a:pt x="5643274" y="4471356"/>
                </a:lnTo>
                <a:lnTo>
                  <a:pt x="0" y="4471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0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7"/>
          <p:cNvSpPr/>
          <p:nvPr/>
        </p:nvSpPr>
        <p:spPr>
          <a:xfrm>
            <a:off x="5356209" y="2427890"/>
            <a:ext cx="3434894" cy="2337141"/>
          </a:xfrm>
          <a:custGeom>
            <a:rect b="b" l="l" r="r" t="t"/>
            <a:pathLst>
              <a:path extrusionOk="0" h="4522533" w="5930428">
                <a:moveTo>
                  <a:pt x="0" y="0"/>
                </a:moveTo>
                <a:lnTo>
                  <a:pt x="5930428" y="0"/>
                </a:lnTo>
                <a:lnTo>
                  <a:pt x="5930428" y="4522533"/>
                </a:lnTo>
                <a:lnTo>
                  <a:pt x="0" y="4522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27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09" name="Google Shape;109;p27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8"/>
          <p:cNvSpPr txBox="1"/>
          <p:nvPr/>
        </p:nvSpPr>
        <p:spPr>
          <a:xfrm>
            <a:off x="1416433" y="2166801"/>
            <a:ext cx="6453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t/>
            </a:r>
            <a:endParaRPr b="1" i="0" sz="61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116" name="Google Shape;116;p28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42449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8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18" name="Google Shape;118;p28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19" name="Google Shape;119;p28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8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8"/>
          <p:cNvSpPr txBox="1"/>
          <p:nvPr/>
        </p:nvSpPr>
        <p:spPr>
          <a:xfrm>
            <a:off x="1297026" y="850018"/>
            <a:ext cx="93441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99"/>
              <a:buFont typeface="Arial"/>
              <a:buNone/>
            </a:pPr>
            <a:r>
              <a:rPr b="1" lang="es-CO" sz="4199">
                <a:latin typeface="Times"/>
                <a:ea typeface="Times"/>
                <a:cs typeface="Times"/>
                <a:sym typeface="Times"/>
              </a:rPr>
              <a:t>INTRODUCCIÓN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995185" y="2252724"/>
            <a:ext cx="10493390" cy="2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40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Contexto del problema.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740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Importancia del proyecto</a:t>
            </a:r>
            <a:r>
              <a:rPr b="0" i="0" lang="es-CO" sz="4641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0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0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29" name="Google Shape;129;p30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30" name="Google Shape;130;p30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0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30"/>
          <p:cNvSpPr txBox="1"/>
          <p:nvPr/>
        </p:nvSpPr>
        <p:spPr>
          <a:xfrm>
            <a:off x="2530136" y="1008459"/>
            <a:ext cx="6374168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0"/>
          <p:cNvSpPr/>
          <p:nvPr/>
        </p:nvSpPr>
        <p:spPr>
          <a:xfrm>
            <a:off x="2145001" y="1833140"/>
            <a:ext cx="8142401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O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una sitio web interactivo para concientizar a los  niños de </a:t>
            </a:r>
            <a:r>
              <a:rPr lang="es-CO" sz="3200">
                <a:latin typeface="Times New Roman"/>
                <a:ea typeface="Times New Roman"/>
                <a:cs typeface="Times New Roman"/>
                <a:sym typeface="Times New Roman"/>
              </a:rPr>
              <a:t>quinto y sexto</a:t>
            </a:r>
            <a:r>
              <a:rPr b="0" i="0" lang="es-CO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primaria del Colegio Técnico Palermo sobre el cuidado del medio ambiente y el manejo adecuado de residuos dentro del entorno escolar.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3175" y="4604244"/>
            <a:ext cx="1525432" cy="152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31"/>
          <p:cNvPicPr preferRelativeResize="0"/>
          <p:nvPr/>
        </p:nvPicPr>
        <p:blipFill rotWithShape="1">
          <a:blip r:embed="rId4">
            <a:alphaModFix/>
          </a:blip>
          <a:srcRect b="22926" l="24976" r="24976" t="22927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1"/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41" name="Google Shape;141;p31"/>
          <p:cNvGrpSpPr/>
          <p:nvPr/>
        </p:nvGrpSpPr>
        <p:grpSpPr>
          <a:xfrm>
            <a:off x="794356" y="758166"/>
            <a:ext cx="893043" cy="893043"/>
            <a:chOff x="0" y="0"/>
            <a:chExt cx="6350000" cy="6350000"/>
          </a:xfrm>
        </p:grpSpPr>
        <p:sp>
          <p:nvSpPr>
            <p:cNvPr id="142" name="Google Shape;142;p3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3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3" r="22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4" name="Google Shape;144;p31"/>
          <p:cNvSpPr txBox="1"/>
          <p:nvPr/>
        </p:nvSpPr>
        <p:spPr>
          <a:xfrm>
            <a:off x="2600475" y="808793"/>
            <a:ext cx="6374168" cy="574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OBJETIVOS ESPECIFICOS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075" y="4984974"/>
            <a:ext cx="3081049" cy="16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1"/>
          <p:cNvSpPr txBox="1"/>
          <p:nvPr/>
        </p:nvSpPr>
        <p:spPr>
          <a:xfrm>
            <a:off x="2021775" y="1383175"/>
            <a:ext cx="7803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Planificar: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Definición de objetivos, alcance, recursos, tiempos y usuarios del </a:t>
            </a:r>
            <a:r>
              <a:rPr lang="es-CO" sz="1800">
                <a:solidFill>
                  <a:schemeClr val="accent5"/>
                </a:solidFill>
              </a:rPr>
              <a:t>aplicativo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web.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Analizar: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Estudio de requerimientos funcionales, no funcionales y funcionalidades principales.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Diseñar: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Estructura general, base de datos, interfaz gráfica y diagramas UML.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Desarrollar: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Programación e implementación de módulos (inicio de sesión, gestión de usuarios, contenidos, juegos y cuestionarios).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Probar: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Verificación de módulos, pruebas y corrección de errores previos al lanzamiento.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Instalar: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Configuración del sitio, base de datos y servidor para su uso en el colegio.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</a:pPr>
            <a:r>
              <a:rPr b="1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Mantener:</a:t>
            </a:r>
            <a:r>
              <a:rPr b="0" i="0" lang="es-CO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Actualización, optimización y soporte continuo de la plataforma.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9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53" name="Google Shape;153;p29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154" name="Google Shape;154;p29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9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29"/>
          <p:cNvSpPr txBox="1"/>
          <p:nvPr/>
        </p:nvSpPr>
        <p:spPr>
          <a:xfrm>
            <a:off x="2815547" y="908473"/>
            <a:ext cx="6168600" cy="5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996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PLANTEAMIENTO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9"/>
          <p:cNvSpPr txBox="1"/>
          <p:nvPr/>
        </p:nvSpPr>
        <p:spPr>
          <a:xfrm>
            <a:off x="1995709" y="1489507"/>
            <a:ext cx="8852400" cy="4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Bajo conocimiento ambiental y mal manejo de residuos en estudiantes de grado primero del Colegio Técnico Palermo.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Solución propuesta: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s-CO" sz="1600">
                <a:solidFill>
                  <a:schemeClr val="accent5"/>
                </a:solidFill>
              </a:rPr>
              <a:t>aplicativo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web educativo e interactivo con juegos y contenidos visuales.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Pregunta general: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¿Cómo implementar una </a:t>
            </a:r>
            <a:r>
              <a:rPr lang="es-CO" sz="1600">
                <a:solidFill>
                  <a:schemeClr val="accent5"/>
                </a:solidFill>
              </a:rPr>
              <a:t>aplicativo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web creado por estudiantes de programación para motivar el cuidado ambiental en niños</a:t>
            </a:r>
            <a:r>
              <a:rPr lang="es-CO" sz="1600">
                <a:solidFill>
                  <a:schemeClr val="accent5"/>
                </a:solidFill>
              </a:rPr>
              <a:t> de quinto y sexto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1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Preguntas específicas:</a:t>
            </a:r>
            <a:endParaRPr b="0" i="0" sz="16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¿Qué estrategias y documentos sobre educación ambiental son adecuados para edades tempranas?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¿Cuáles son los comportamientos inadecuados en el manejo de residuos en el colegio?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¿Cómo diseñar un </a:t>
            </a:r>
            <a:r>
              <a:rPr lang="es-CO" sz="1600">
                <a:solidFill>
                  <a:schemeClr val="accent5"/>
                </a:solidFill>
              </a:rPr>
              <a:t>aplicativo</a:t>
            </a: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web interactivo enfocada en el cuidado ambiental y escolar?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</a:pPr>
            <a:r>
              <a:rPr b="0" i="0" lang="es-CO" sz="16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¿Cómo implementar esta sitio web como herramienta de aprendizaje para grado primero?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b="0" i="0" lang="es-CO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2424" y="5115474"/>
            <a:ext cx="1663200" cy="166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825" y="2416325"/>
            <a:ext cx="1817900" cy="202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/>
        </p:nvSpPr>
        <p:spPr>
          <a:xfrm>
            <a:off x="2318705" y="1595122"/>
            <a:ext cx="8597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1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Problema: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Dificultades en el manejo de residuos y recursos en </a:t>
            </a:r>
            <a:r>
              <a:rPr lang="es-CO" sz="2400">
                <a:solidFill>
                  <a:schemeClr val="accent5"/>
                </a:solidFill>
              </a:rPr>
              <a:t>grado quinto y sexto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del Colegio Técnico Palermo IED.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1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Propuesta: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O" sz="2400">
                <a:solidFill>
                  <a:schemeClr val="accent5"/>
                </a:solidFill>
              </a:rPr>
              <a:t>aplicativo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web interactivo con contenidos visuales,  cuestionarios sobre reciclaje, ahorro y cuidado ambiental.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Char char="•"/>
            </a:pPr>
            <a:r>
              <a:rPr b="1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Justificación: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Aprovecha las tecnologías digitales para ofrecer una interfaz sencilla, atractiva e intuitiva adaptada a niños de </a:t>
            </a:r>
            <a:r>
              <a:rPr lang="es-CO" sz="2400">
                <a:solidFill>
                  <a:schemeClr val="accent5"/>
                </a:solidFill>
              </a:rPr>
              <a:t>once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s-CO" sz="2400">
                <a:solidFill>
                  <a:schemeClr val="accent5"/>
                </a:solidFill>
              </a:rPr>
              <a:t>doce</a:t>
            </a:r>
            <a:r>
              <a:rPr b="0" i="0" lang="es-CO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años.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32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58166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2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67" name="Google Shape;167;p32"/>
          <p:cNvGrpSpPr/>
          <p:nvPr/>
        </p:nvGrpSpPr>
        <p:grpSpPr>
          <a:xfrm>
            <a:off x="823507" y="702079"/>
            <a:ext cx="892810" cy="892810"/>
            <a:chOff x="0" y="0"/>
            <a:chExt cx="6350000" cy="6350000"/>
          </a:xfrm>
        </p:grpSpPr>
        <p:sp>
          <p:nvSpPr>
            <p:cNvPr id="168" name="Google Shape;168;p32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2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32"/>
          <p:cNvSpPr txBox="1"/>
          <p:nvPr/>
        </p:nvSpPr>
        <p:spPr>
          <a:xfrm>
            <a:off x="2574098" y="782816"/>
            <a:ext cx="63741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JUSTIFICACIÓN</a:t>
            </a:r>
            <a:endParaRPr b="1" i="0" sz="3200" u="none" cap="none" strike="noStrike"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71" name="Google Shape;171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11288" y="4721375"/>
            <a:ext cx="20478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324" y="2440025"/>
            <a:ext cx="1425025" cy="16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/>
        </p:nvSpPr>
        <p:spPr>
          <a:xfrm>
            <a:off x="2388249" y="2226989"/>
            <a:ext cx="8508900" cy="20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997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O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beneficiarios del proyecto presentado serán los niños de la </a:t>
            </a:r>
            <a:r>
              <a:rPr lang="es-CO" sz="3600">
                <a:latin typeface="Times New Roman"/>
                <a:ea typeface="Times New Roman"/>
                <a:cs typeface="Times New Roman"/>
                <a:sym typeface="Times New Roman"/>
              </a:rPr>
              <a:t>quinto y sexto</a:t>
            </a:r>
            <a:r>
              <a:rPr b="0" i="0" lang="es-CO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 Colegio Técnico Palermo ubicado en la ciudad de Bogotá.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p33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80" name="Google Shape;180;p33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181" name="Google Shape;181;p33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3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33"/>
          <p:cNvSpPr txBox="1"/>
          <p:nvPr/>
        </p:nvSpPr>
        <p:spPr>
          <a:xfrm>
            <a:off x="2530135" y="1008459"/>
            <a:ext cx="73329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BENEFICIARIOS DEL 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7450" y="3925675"/>
            <a:ext cx="2395125" cy="239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7626" y="2583501"/>
            <a:ext cx="1690999" cy="169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/>
        </p:nvSpPr>
        <p:spPr>
          <a:xfrm>
            <a:off x="1769726" y="1582847"/>
            <a:ext cx="8713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 un </a:t>
            </a:r>
            <a:r>
              <a:rPr lang="es-CO" sz="2800"/>
              <a:t>aplicativo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web interactivo para estudiantes de </a:t>
            </a:r>
            <a:r>
              <a:rPr lang="es-CO" sz="2800"/>
              <a:t>grado quinto y sexto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 Colegio Técnico Palermo IED, con el fin de fortalecer la educación ambiental mediante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juegos y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recursos sobre reciclaje y cuidado del entorno. El proyecto también sirve como herramienta de apoyo para los docentes, fomentando una cultura ambiental en la comunidad educativa.</a:t>
            </a:r>
            <a:b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35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5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193" name="Google Shape;193;p35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194" name="Google Shape;194;p35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35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35"/>
          <p:cNvSpPr txBox="1"/>
          <p:nvPr/>
        </p:nvSpPr>
        <p:spPr>
          <a:xfrm>
            <a:off x="2530135" y="1008459"/>
            <a:ext cx="73329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63100" y="4186075"/>
            <a:ext cx="1732250" cy="173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14475" y="4947950"/>
            <a:ext cx="2594822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5416" y="2159075"/>
            <a:ext cx="1581982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6"/>
          <p:cNvSpPr txBox="1"/>
          <p:nvPr/>
        </p:nvSpPr>
        <p:spPr>
          <a:xfrm>
            <a:off x="1942211" y="1771494"/>
            <a:ext cx="85089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s-C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año 2030, el </a:t>
            </a:r>
            <a:r>
              <a:rPr lang="es-CO" sz="2500"/>
              <a:t>aplicativo</a:t>
            </a:r>
            <a:r>
              <a:rPr b="0" i="0" lang="es-C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web será una herramienta innovadora de educación ambiental en el Colegio Técnico Palermo IED, expandible a otras instituciones. La plataforma evolucionará con nuevos contenidos y </a:t>
            </a:r>
            <a:r>
              <a:rPr lang="es-CO" sz="2500"/>
              <a:t>actividades </a:t>
            </a:r>
            <a:r>
              <a:rPr b="0" i="0" lang="es-CO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mejorar la enseñanza, consolidándose como un referente digital que fomenta hábitos sostenibles y forma ciudadanos responsables con el desarrollo sostenible.</a:t>
            </a:r>
            <a:b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" name="Google Shape;205;p36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6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07" name="Google Shape;207;p36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208" name="Google Shape;208;p36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36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0" name="Google Shape;210;p36"/>
          <p:cNvSpPr txBox="1"/>
          <p:nvPr/>
        </p:nvSpPr>
        <p:spPr>
          <a:xfrm>
            <a:off x="2530135" y="1008459"/>
            <a:ext cx="73329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6"/>
          <p:cNvPicPr preferRelativeResize="0"/>
          <p:nvPr/>
        </p:nvPicPr>
        <p:blipFill rotWithShape="1">
          <a:blip r:embed="rId6">
            <a:alphaModFix/>
          </a:blip>
          <a:srcRect b="5790" l="-3640" r="3640" t="-5790"/>
          <a:stretch/>
        </p:blipFill>
        <p:spPr>
          <a:xfrm>
            <a:off x="8247275" y="4521723"/>
            <a:ext cx="2000875" cy="200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958625"/>
            <a:ext cx="2000875" cy="200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/>
        </p:nvSpPr>
        <p:spPr>
          <a:xfrm>
            <a:off x="2365361" y="1651188"/>
            <a:ext cx="8508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comprende el desarrollo de un </a:t>
            </a:r>
            <a:r>
              <a:rPr lang="es-CO" sz="2800"/>
              <a:t>aplicativo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web educativo para fortalecer la conciencia ambiental en estudiantes de primer grado del Colegio Técnico Palermo IED. Cuenta con una interfaz intuitiva y atractiva para niños de </a:t>
            </a:r>
            <a:r>
              <a:rPr lang="es-CO" sz="2800"/>
              <a:t>once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s-CO" sz="2800"/>
              <a:t>doce</a:t>
            </a:r>
            <a: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años, ofreciendo información ambiental mediante elementos visuales, ilustraciones, animaciones y actividades interactivas.</a:t>
            </a:r>
            <a:br>
              <a:rPr b="0" i="0" lang="es-CO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8" name="Google Shape;218;p37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7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20" name="Google Shape;220;p37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221" name="Google Shape;221;p37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37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37"/>
          <p:cNvSpPr txBox="1"/>
          <p:nvPr/>
        </p:nvSpPr>
        <p:spPr>
          <a:xfrm>
            <a:off x="2530135" y="1008459"/>
            <a:ext cx="73329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1051" y="4791176"/>
            <a:ext cx="2066825" cy="20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9775" y="2243463"/>
            <a:ext cx="1942200" cy="235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0"/>
          <p:cNvSpPr txBox="1"/>
          <p:nvPr/>
        </p:nvSpPr>
        <p:spPr>
          <a:xfrm>
            <a:off x="1242875" y="2105601"/>
            <a:ext cx="389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CO" sz="2000">
                <a:latin typeface="Times New Roman"/>
                <a:ea typeface="Times New Roman"/>
                <a:cs typeface="Times New Roman"/>
                <a:sym typeface="Times New Roman"/>
              </a:rPr>
              <a:t>muestra de</a:t>
            </a:r>
            <a:r>
              <a:rPr b="0" i="0" lang="es-CO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íconos de los programas utilizados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p50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0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33" name="Google Shape;233;p50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234" name="Google Shape;234;p50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50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50"/>
          <p:cNvSpPr txBox="1"/>
          <p:nvPr/>
        </p:nvSpPr>
        <p:spPr>
          <a:xfrm>
            <a:off x="1806082" y="758166"/>
            <a:ext cx="892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PROGRAMAS UTILIZDOS PARA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O" sz="28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53349" y="1924345"/>
            <a:ext cx="5611008" cy="311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27497" y="2213242"/>
            <a:ext cx="1286054" cy="1028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5793" y="3242086"/>
            <a:ext cx="1343212" cy="128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40115" y="4222109"/>
            <a:ext cx="2638793" cy="543001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de visual studio code" id="241" name="Google Shape;241;p50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sultado de imagen de visual studio code" id="242" name="Google Shape;242;p50"/>
          <p:cNvSpPr/>
          <p:nvPr/>
        </p:nvSpPr>
        <p:spPr>
          <a:xfrm>
            <a:off x="6096000" y="34290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5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73616" y="2932587"/>
            <a:ext cx="2397730" cy="128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166025" y="2042575"/>
            <a:ext cx="1432800" cy="119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09687" y="2512524"/>
            <a:ext cx="1945475" cy="7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1"/>
          <p:cNvSpPr txBox="1"/>
          <p:nvPr/>
        </p:nvSpPr>
        <p:spPr>
          <a:xfrm>
            <a:off x="1158211" y="1741790"/>
            <a:ext cx="104391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Desarrollar: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Crear un </a:t>
            </a:r>
            <a:r>
              <a:rPr lang="es-CO" sz="2000">
                <a:solidFill>
                  <a:schemeClr val="accent5"/>
                </a:solidFill>
              </a:rPr>
              <a:t>aplicativo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web interactivo y fácil de usar para grado quinto y sexto.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Educar: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Incrementar el conocimiento sobre el cuidado ambiental y el reciclaje.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Mejorar hábitos: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Enseñar la correcta separación de residuos en el entorno escolar.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Incentivar recursos: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Promover el uso responsable del agua, la energía y los recursos naturales.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Fortalecer el aprendizaje: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Usar juegos, imágenes y recursos interactivos.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Apoyar a docentes: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Proveer una herramienta digital complementaria para las clases.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Fomentar participación: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Impulsar campañas y actividades de cuidado ambiental.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Generar conciencia: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Consolidar una mayor conciencia en la comunidad educativa.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</a:pPr>
            <a:r>
              <a:rPr b="1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Escalabilidad:</a:t>
            </a:r>
            <a:r>
              <a:rPr b="0" i="0" lang="es-CO" sz="2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Contar con una plataforma adaptable a futuras funciones y contenidos.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51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53" name="Google Shape;253;p51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254" name="Google Shape;254;p51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51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51"/>
          <p:cNvSpPr txBox="1"/>
          <p:nvPr/>
        </p:nvSpPr>
        <p:spPr>
          <a:xfrm>
            <a:off x="2459954" y="809025"/>
            <a:ext cx="7332900" cy="5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RESULTADOS ESPERADOS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42675" y="5141350"/>
            <a:ext cx="1938900" cy="193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00" y="2972323"/>
            <a:ext cx="1634102" cy="163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52"/>
          <p:cNvPicPr preferRelativeResize="0"/>
          <p:nvPr/>
        </p:nvPicPr>
        <p:blipFill rotWithShape="1">
          <a:blip r:embed="rId4">
            <a:alphaModFix/>
          </a:blip>
          <a:srcRect b="22926" l="24974" r="24979" t="22926"/>
          <a:stretch/>
        </p:blipFill>
        <p:spPr>
          <a:xfrm>
            <a:off x="10565464" y="789653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2"/>
          <p:cNvSpPr txBox="1"/>
          <p:nvPr/>
        </p:nvSpPr>
        <p:spPr>
          <a:xfrm>
            <a:off x="391886" y="296862"/>
            <a:ext cx="2828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O" sz="1000" u="none" cap="none" strike="noStrike">
                <a:solidFill>
                  <a:srgbClr val="4D4D4C"/>
                </a:solidFill>
                <a:latin typeface="Work Sans SemiBold"/>
                <a:ea typeface="Work Sans SemiBold"/>
                <a:cs typeface="Work Sans SemiBold"/>
                <a:sym typeface="Work Sans SemiBold"/>
              </a:rPr>
              <a:t>Clasificación de la información: Pública</a:t>
            </a:r>
            <a:endParaRPr b="1" i="0" sz="1000" u="none" cap="none" strike="noStrike">
              <a:solidFill>
                <a:srgbClr val="4D4D4C"/>
              </a:solidFill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  <p:grpSp>
        <p:nvGrpSpPr>
          <p:cNvPr id="265" name="Google Shape;265;p52"/>
          <p:cNvGrpSpPr/>
          <p:nvPr/>
        </p:nvGrpSpPr>
        <p:grpSpPr>
          <a:xfrm>
            <a:off x="794356" y="758166"/>
            <a:ext cx="892810" cy="892810"/>
            <a:chOff x="0" y="0"/>
            <a:chExt cx="6350000" cy="6350000"/>
          </a:xfrm>
        </p:grpSpPr>
        <p:sp>
          <p:nvSpPr>
            <p:cNvPr id="266" name="Google Shape;266;p52"/>
            <p:cNvSpPr/>
            <p:nvPr/>
          </p:nvSpPr>
          <p:spPr>
            <a:xfrm>
              <a:off x="0" y="0"/>
              <a:ext cx="6350000" cy="6350000"/>
            </a:xfrm>
            <a:custGeom>
              <a:rect b="b" l="l" r="r" t="t"/>
              <a:pathLst>
                <a:path extrusionOk="0" h="6350000" w="6350000">
                  <a:moveTo>
                    <a:pt x="6350000" y="3175000"/>
                  </a:moveTo>
                  <a:cubicBezTo>
                    <a:pt x="6350000" y="1421130"/>
                    <a:pt x="4928870" y="0"/>
                    <a:pt x="3175000" y="0"/>
                  </a:cubicBezTo>
                  <a:lnTo>
                    <a:pt x="0" y="0"/>
                  </a:lnTo>
                  <a:lnTo>
                    <a:pt x="0" y="3175000"/>
                  </a:lnTo>
                  <a:cubicBezTo>
                    <a:pt x="0" y="4928870"/>
                    <a:pt x="1421130" y="6350000"/>
                    <a:pt x="3175000" y="6350000"/>
                  </a:cubicBezTo>
                  <a:cubicBezTo>
                    <a:pt x="4928870" y="6350000"/>
                    <a:pt x="6350000" y="4928870"/>
                    <a:pt x="6350000" y="3175000"/>
                  </a:cubicBezTo>
                  <a:close/>
                </a:path>
              </a:pathLst>
            </a:custGeom>
            <a:solidFill>
              <a:srgbClr val="93CBE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52"/>
            <p:cNvSpPr/>
            <p:nvPr/>
          </p:nvSpPr>
          <p:spPr>
            <a:xfrm>
              <a:off x="199010" y="359986"/>
              <a:ext cx="5898640" cy="5630028"/>
            </a:xfrm>
            <a:custGeom>
              <a:rect b="b" l="l" r="r" t="t"/>
              <a:pathLst>
                <a:path extrusionOk="0" h="5630028" w="5898640">
                  <a:moveTo>
                    <a:pt x="2949320" y="4504"/>
                  </a:moveTo>
                  <a:cubicBezTo>
                    <a:pt x="1942227" y="0"/>
                    <a:pt x="1009702" y="534693"/>
                    <a:pt x="504851" y="1406118"/>
                  </a:cubicBezTo>
                  <a:cubicBezTo>
                    <a:pt x="0" y="2277543"/>
                    <a:pt x="0" y="3352485"/>
                    <a:pt x="504851" y="4223910"/>
                  </a:cubicBezTo>
                  <a:cubicBezTo>
                    <a:pt x="1009702" y="5095335"/>
                    <a:pt x="1942227" y="5630028"/>
                    <a:pt x="2949320" y="5625524"/>
                  </a:cubicBezTo>
                  <a:cubicBezTo>
                    <a:pt x="3956413" y="5630028"/>
                    <a:pt x="4888938" y="5095335"/>
                    <a:pt x="5393789" y="4223910"/>
                  </a:cubicBezTo>
                  <a:cubicBezTo>
                    <a:pt x="5898640" y="3352485"/>
                    <a:pt x="5898640" y="2277543"/>
                    <a:pt x="5393789" y="1406118"/>
                  </a:cubicBezTo>
                  <a:cubicBezTo>
                    <a:pt x="4888938" y="534693"/>
                    <a:pt x="3956413" y="0"/>
                    <a:pt x="2949320" y="4504"/>
                  </a:cubicBez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220" r="23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52"/>
          <p:cNvSpPr txBox="1"/>
          <p:nvPr/>
        </p:nvSpPr>
        <p:spPr>
          <a:xfrm>
            <a:off x="2530135" y="1008459"/>
            <a:ext cx="733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4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s-CO" sz="3200">
                <a:latin typeface="Times"/>
                <a:ea typeface="Times"/>
                <a:cs typeface="Times"/>
                <a:sym typeface="Times"/>
              </a:rPr>
              <a:t>METODOLOGÍA</a:t>
            </a:r>
            <a:r>
              <a:rPr b="1" i="0" lang="es-CO" sz="32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DE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42308" y="1651209"/>
            <a:ext cx="6998871" cy="349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